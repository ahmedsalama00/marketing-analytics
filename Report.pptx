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1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171" autoAdjust="0"/>
  </p:normalViewPr>
  <p:slideViewPr>
    <p:cSldViewPr snapToGrid="0">
      <p:cViewPr varScale="1">
        <p:scale>
          <a:sx n="73" d="100"/>
          <a:sy n="73" d="100"/>
        </p:scale>
        <p:origin x="1070" y="-58"/>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A6572C-1A3B-4D87-A47E-6AFF551B0F7B}"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7CB0C-9533-4385-87A6-8FBB43EDDA02}" type="slidenum">
              <a:rPr lang="en-US" smtClean="0"/>
              <a:t>‹#›</a:t>
            </a:fld>
            <a:endParaRPr lang="en-US"/>
          </a:p>
        </p:txBody>
      </p:sp>
    </p:spTree>
    <p:extLst>
      <p:ext uri="{BB962C8B-B14F-4D97-AF65-F5344CB8AC3E}">
        <p14:creationId xmlns:p14="http://schemas.microsoft.com/office/powerpoint/2010/main" val="23351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97CB0C-9533-4385-87A6-8FBB43EDDA02}" type="slidenum">
              <a:rPr lang="en-US" smtClean="0"/>
              <a:t>2</a:t>
            </a:fld>
            <a:endParaRPr lang="en-US"/>
          </a:p>
        </p:txBody>
      </p:sp>
    </p:spTree>
    <p:extLst>
      <p:ext uri="{BB962C8B-B14F-4D97-AF65-F5344CB8AC3E}">
        <p14:creationId xmlns:p14="http://schemas.microsoft.com/office/powerpoint/2010/main" val="323252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97CB0C-9533-4385-87A6-8FBB43EDDA02}" type="slidenum">
              <a:rPr lang="en-US" smtClean="0"/>
              <a:t>4</a:t>
            </a:fld>
            <a:endParaRPr lang="en-US"/>
          </a:p>
        </p:txBody>
      </p:sp>
    </p:spTree>
    <p:extLst>
      <p:ext uri="{BB962C8B-B14F-4D97-AF65-F5344CB8AC3E}">
        <p14:creationId xmlns:p14="http://schemas.microsoft.com/office/powerpoint/2010/main" val="3236601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72F1-733F-7894-CE4E-5B10EBBDA9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3BEC4-574D-7435-EF11-6C51202B8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92193-2ED3-3BC2-B347-0FDCC136A0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B2E15B-1D4C-EF79-D3D9-4B1F81B9E7B0}"/>
              </a:ext>
            </a:extLst>
          </p:cNvPr>
          <p:cNvSpPr>
            <a:spLocks noGrp="1"/>
          </p:cNvSpPr>
          <p:nvPr>
            <p:ph type="sldNum" sz="quarter" idx="5"/>
          </p:nvPr>
        </p:nvSpPr>
        <p:spPr/>
        <p:txBody>
          <a:bodyPr/>
          <a:lstStyle/>
          <a:p>
            <a:fld id="{2D97CB0C-9533-4385-87A6-8FBB43EDDA02}" type="slidenum">
              <a:rPr lang="en-US" smtClean="0"/>
              <a:t>5</a:t>
            </a:fld>
            <a:endParaRPr lang="en-US"/>
          </a:p>
        </p:txBody>
      </p:sp>
    </p:spTree>
    <p:extLst>
      <p:ext uri="{BB962C8B-B14F-4D97-AF65-F5344CB8AC3E}">
        <p14:creationId xmlns:p14="http://schemas.microsoft.com/office/powerpoint/2010/main" val="3478934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919DA-26D5-2A81-6EDB-1837EEE765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8FF8B-FD31-5EAC-19AE-7EEB0FE52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FE89B-1204-4921-E462-A55F22CF3B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AB05AE-6213-AC57-5017-581615CCE5B2}"/>
              </a:ext>
            </a:extLst>
          </p:cNvPr>
          <p:cNvSpPr>
            <a:spLocks noGrp="1"/>
          </p:cNvSpPr>
          <p:nvPr>
            <p:ph type="sldNum" sz="quarter" idx="5"/>
          </p:nvPr>
        </p:nvSpPr>
        <p:spPr/>
        <p:txBody>
          <a:bodyPr/>
          <a:lstStyle/>
          <a:p>
            <a:fld id="{2D97CB0C-9533-4385-87A6-8FBB43EDDA02}" type="slidenum">
              <a:rPr lang="en-US" smtClean="0"/>
              <a:t>6</a:t>
            </a:fld>
            <a:endParaRPr lang="en-US"/>
          </a:p>
        </p:txBody>
      </p:sp>
    </p:spTree>
    <p:extLst>
      <p:ext uri="{BB962C8B-B14F-4D97-AF65-F5344CB8AC3E}">
        <p14:creationId xmlns:p14="http://schemas.microsoft.com/office/powerpoint/2010/main" val="47064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5/16/2026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4031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5/16/2026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09396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5/16/2026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502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5/16/2026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9757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5/16/2026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87082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5/16/2026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45715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5/16/2026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903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5/16/2026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1836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5/16/2026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91761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5/16/2026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89626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5/16/2026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581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5/16/2026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26528"/>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9479158-3AAE-E87C-D92F-AEC7FF22B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5002" y="142850"/>
            <a:ext cx="6881991" cy="3286150"/>
          </a:xfrm>
          <a:prstGeom prst="rect">
            <a:avLst/>
          </a:prstGeom>
        </p:spPr>
      </p:pic>
      <p:cxnSp>
        <p:nvCxnSpPr>
          <p:cNvPr id="31" name="Straight Connector 30">
            <a:extLst>
              <a:ext uri="{FF2B5EF4-FFF2-40B4-BE49-F238E27FC236}">
                <a16:creationId xmlns:a16="http://schemas.microsoft.com/office/drawing/2014/main" id="{94AC3912-9445-326E-F355-EA4A288013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62D2FB7-742F-82B4-8562-8C903AAB245E}"/>
              </a:ext>
            </a:extLst>
          </p:cNvPr>
          <p:cNvSpPr>
            <a:spLocks noGrp="1"/>
          </p:cNvSpPr>
          <p:nvPr>
            <p:ph type="ctrTitle"/>
          </p:nvPr>
        </p:nvSpPr>
        <p:spPr>
          <a:xfrm>
            <a:off x="1529021" y="3571850"/>
            <a:ext cx="9133951" cy="813923"/>
          </a:xfrm>
        </p:spPr>
        <p:txBody>
          <a:bodyPr anchor="b">
            <a:noAutofit/>
          </a:bodyPr>
          <a:lstStyle/>
          <a:p>
            <a:pPr algn="ctr">
              <a:lnSpc>
                <a:spcPct val="150000"/>
              </a:lnSpc>
            </a:pPr>
            <a:r>
              <a:rPr lang="en-US" sz="4400" b="1" dirty="0"/>
              <a:t> </a:t>
            </a:r>
            <a:br>
              <a:rPr lang="en-US" sz="4400" dirty="0"/>
            </a:br>
            <a:r>
              <a:rPr lang="en-US" sz="4400" dirty="0"/>
              <a:t>Marketing Analytics Business Case</a:t>
            </a:r>
            <a:br>
              <a:rPr lang="en-US" sz="4400" dirty="0"/>
            </a:br>
            <a:r>
              <a:rPr lang="en-US" sz="4000" dirty="0"/>
              <a:t>By : Ahmed Salama</a:t>
            </a:r>
            <a:endParaRPr lang="en-US" sz="4400" dirty="0"/>
          </a:p>
        </p:txBody>
      </p:sp>
    </p:spTree>
    <p:extLst>
      <p:ext uri="{BB962C8B-B14F-4D97-AF65-F5344CB8AC3E}">
        <p14:creationId xmlns:p14="http://schemas.microsoft.com/office/powerpoint/2010/main" val="1344941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F22F7-61D8-74A0-C199-AD1104E2AC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26C7E75-0E75-D650-E4EB-9B141111CB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241" y="-353292"/>
            <a:ext cx="3047486" cy="1455174"/>
          </a:xfrm>
          <a:prstGeom prst="rect">
            <a:avLst/>
          </a:prstGeom>
        </p:spPr>
      </p:pic>
      <p:sp>
        <p:nvSpPr>
          <p:cNvPr id="9" name="TextBox 8">
            <a:extLst>
              <a:ext uri="{FF2B5EF4-FFF2-40B4-BE49-F238E27FC236}">
                <a16:creationId xmlns:a16="http://schemas.microsoft.com/office/drawing/2014/main" id="{F48FF670-28A5-5D21-E8F8-309302C501A4}"/>
              </a:ext>
            </a:extLst>
          </p:cNvPr>
          <p:cNvSpPr txBox="1"/>
          <p:nvPr/>
        </p:nvSpPr>
        <p:spPr>
          <a:xfrm>
            <a:off x="123883" y="1511783"/>
            <a:ext cx="4992484" cy="4801314"/>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tx1">
                    <a:lumMod val="95000"/>
                    <a:lumOff val="5000"/>
                  </a:schemeClr>
                </a:solidFill>
                <a:latin typeface="Aptos Black" panose="020F0502020204030204" pitchFamily="34" charset="0"/>
              </a:rPr>
              <a:t>Decreased Conversion Rates:</a:t>
            </a:r>
          </a:p>
          <a:p>
            <a:pPr marL="742950" lvl="1" indent="-285750">
              <a:buFont typeface="Arial" panose="020B0604020202020204" pitchFamily="34" charset="0"/>
              <a:buChar char="•"/>
            </a:pPr>
            <a:r>
              <a:rPr lang="en-US" sz="1400" dirty="0">
                <a:latin typeface="Aptos" panose="020B0004020202020204" pitchFamily="34" charset="0"/>
              </a:rPr>
              <a:t>The conversion rate demonstrated a strong rebound in December, reaching </a:t>
            </a:r>
            <a:r>
              <a:rPr lang="en-US" sz="1400" dirty="0">
                <a:highlight>
                  <a:srgbClr val="FFFF00"/>
                </a:highlight>
                <a:latin typeface="Aptos" panose="020B0004020202020204" pitchFamily="34" charset="0"/>
              </a:rPr>
              <a:t>10.2%</a:t>
            </a:r>
            <a:r>
              <a:rPr lang="en-US" sz="1400" dirty="0">
                <a:latin typeface="Aptos" panose="020B0004020202020204" pitchFamily="34" charset="0"/>
              </a:rPr>
              <a:t>, despite a notable dip to </a:t>
            </a:r>
            <a:r>
              <a:rPr lang="en-US" sz="1400" dirty="0">
                <a:highlight>
                  <a:srgbClr val="FFFF00"/>
                </a:highlight>
                <a:latin typeface="Aptos" panose="020B0004020202020204" pitchFamily="34" charset="0"/>
              </a:rPr>
              <a:t>5.0</a:t>
            </a:r>
            <a:r>
              <a:rPr lang="ar-EG" sz="1400" dirty="0">
                <a:highlight>
                  <a:srgbClr val="FFFF00"/>
                </a:highlight>
                <a:latin typeface="Aptos" panose="020B0004020202020204" pitchFamily="34" charset="0"/>
              </a:rPr>
              <a:t>8</a:t>
            </a:r>
            <a:r>
              <a:rPr lang="en-US" sz="1400" dirty="0">
                <a:highlight>
                  <a:srgbClr val="FFFF00"/>
                </a:highlight>
                <a:latin typeface="Aptos" panose="020B0004020202020204" pitchFamily="34" charset="0"/>
              </a:rPr>
              <a:t>% </a:t>
            </a:r>
            <a:r>
              <a:rPr lang="en-US" sz="1400" dirty="0">
                <a:latin typeface="Aptos" panose="020B0004020202020204" pitchFamily="34" charset="0"/>
              </a:rPr>
              <a:t>in October.</a:t>
            </a:r>
          </a:p>
          <a:p>
            <a:pPr marL="742950" lvl="1" indent="-285750">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marL="285750" indent="-285750">
              <a:buFont typeface="Arial" panose="020B0604020202020204" pitchFamily="34" charset="0"/>
              <a:buChar char="•"/>
            </a:pPr>
            <a:r>
              <a:rPr lang="en-US" dirty="0">
                <a:solidFill>
                  <a:schemeClr val="tx1">
                    <a:lumMod val="95000"/>
                    <a:lumOff val="5000"/>
                  </a:schemeClr>
                </a:solidFill>
                <a:latin typeface="Aptos Black" panose="020F0502020204030204" pitchFamily="34" charset="0"/>
              </a:rPr>
              <a:t>Reduced Customer Engagement: </a:t>
            </a:r>
            <a:endParaRPr lang="ar-EG" dirty="0">
              <a:solidFill>
                <a:schemeClr val="tx1">
                  <a:lumMod val="95000"/>
                  <a:lumOff val="5000"/>
                </a:schemeClr>
              </a:solidFill>
              <a:latin typeface="Aptos Black" panose="020F0502020204030204" pitchFamily="34" charset="0"/>
            </a:endParaRP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There is decline in overall social media engagement with </a:t>
            </a:r>
            <a:r>
              <a:rPr lang="en-US" sz="1400" dirty="0">
                <a:solidFill>
                  <a:schemeClr val="tx1">
                    <a:lumMod val="95000"/>
                    <a:lumOff val="5000"/>
                  </a:schemeClr>
                </a:solidFill>
                <a:highlight>
                  <a:srgbClr val="FFFF00"/>
                </a:highlight>
                <a:latin typeface="Aptos" panose="020B0004020202020204" pitchFamily="34" charset="0"/>
              </a:rPr>
              <a:t>views</a:t>
            </a:r>
            <a:r>
              <a:rPr lang="en-US" sz="1400" dirty="0">
                <a:solidFill>
                  <a:schemeClr val="tx1">
                    <a:lumMod val="95000"/>
                    <a:lumOff val="5000"/>
                  </a:schemeClr>
                </a:solidFill>
                <a:latin typeface="Aptos" panose="020B0004020202020204" pitchFamily="34" charset="0"/>
              </a:rPr>
              <a:t> dropped compared by last year.</a:t>
            </a:r>
          </a:p>
          <a:p>
            <a:pPr marL="742950" lvl="1" indent="-285750">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While clicks and likes are low compared to views, the click through rate stands at </a:t>
            </a:r>
            <a:r>
              <a:rPr lang="en-US" sz="1400" dirty="0">
                <a:solidFill>
                  <a:schemeClr val="tx1">
                    <a:lumMod val="95000"/>
                    <a:lumOff val="5000"/>
                  </a:schemeClr>
                </a:solidFill>
                <a:highlight>
                  <a:srgbClr val="FFFF00"/>
                </a:highlight>
                <a:latin typeface="Aptos" panose="020B0004020202020204" pitchFamily="34" charset="0"/>
              </a:rPr>
              <a:t>15.37%</a:t>
            </a:r>
            <a:r>
              <a:rPr lang="en-US" sz="1400" dirty="0">
                <a:solidFill>
                  <a:schemeClr val="tx1">
                    <a:lumMod val="95000"/>
                    <a:lumOff val="5000"/>
                  </a:schemeClr>
                </a:solidFill>
                <a:latin typeface="Aptos" panose="020B0004020202020204" pitchFamily="34" charset="0"/>
              </a:rPr>
              <a:t> meaning that engaged users are still interacting effectively.</a:t>
            </a:r>
          </a:p>
          <a:p>
            <a:pPr marL="742950" lvl="1" indent="-285750">
              <a:buFont typeface="Arial" panose="020B0604020202020204" pitchFamily="34" charset="0"/>
              <a:buChar char="•"/>
            </a:pPr>
            <a:endParaRPr lang="en-US" sz="1400" dirty="0">
              <a:solidFill>
                <a:schemeClr val="tx1">
                  <a:lumMod val="95000"/>
                  <a:lumOff val="5000"/>
                </a:schemeClr>
              </a:solidFill>
              <a:latin typeface="Aptos Black" panose="020F0502020204030204" pitchFamily="34" charset="0"/>
            </a:endParaRPr>
          </a:p>
          <a:p>
            <a:pPr marL="285750" indent="-285750">
              <a:buFont typeface="Arial" panose="020B0604020202020204" pitchFamily="34" charset="0"/>
              <a:buChar char="•"/>
            </a:pPr>
            <a:r>
              <a:rPr lang="en-US" dirty="0">
                <a:solidFill>
                  <a:schemeClr val="tx1">
                    <a:lumMod val="95000"/>
                    <a:lumOff val="5000"/>
                  </a:schemeClr>
                </a:solidFill>
                <a:latin typeface="Aptos Black" panose="020F0502020204030204" pitchFamily="34" charset="0"/>
              </a:rPr>
              <a:t>Customer Feedback Analysis:</a:t>
            </a: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Customer ratings have remained  consistent, averaging around </a:t>
            </a:r>
            <a:r>
              <a:rPr lang="en-US" sz="1400" dirty="0">
                <a:solidFill>
                  <a:schemeClr val="tx1">
                    <a:lumMod val="95000"/>
                    <a:lumOff val="5000"/>
                  </a:schemeClr>
                </a:solidFill>
                <a:highlight>
                  <a:srgbClr val="FFFF00"/>
                </a:highlight>
                <a:latin typeface="Aptos" panose="020B0004020202020204" pitchFamily="34" charset="0"/>
              </a:rPr>
              <a:t>3.7 </a:t>
            </a:r>
            <a:r>
              <a:rPr lang="en-US" sz="1400" dirty="0">
                <a:solidFill>
                  <a:schemeClr val="tx1">
                    <a:lumMod val="95000"/>
                    <a:lumOff val="5000"/>
                  </a:schemeClr>
                </a:solidFill>
                <a:latin typeface="Aptos" panose="020B0004020202020204" pitchFamily="34" charset="0"/>
              </a:rPr>
              <a:t>throughout the year.</a:t>
            </a:r>
          </a:p>
          <a:p>
            <a:pPr marL="742950" lvl="1" indent="-285750">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Although stable, the average rating are below the target of </a:t>
            </a:r>
            <a:r>
              <a:rPr lang="en-US" sz="1400" dirty="0">
                <a:solidFill>
                  <a:schemeClr val="tx1">
                    <a:lumMod val="95000"/>
                    <a:lumOff val="5000"/>
                  </a:schemeClr>
                </a:solidFill>
                <a:highlight>
                  <a:srgbClr val="FF0000"/>
                </a:highlight>
                <a:latin typeface="Aptos" panose="020B0004020202020204" pitchFamily="34" charset="0"/>
              </a:rPr>
              <a:t>4.0 </a:t>
            </a:r>
            <a:r>
              <a:rPr lang="en-US" sz="1400" dirty="0">
                <a:solidFill>
                  <a:schemeClr val="tx1">
                    <a:lumMod val="95000"/>
                    <a:lumOff val="5000"/>
                  </a:schemeClr>
                </a:solidFill>
                <a:latin typeface="Aptos" panose="020B0004020202020204" pitchFamily="34" charset="0"/>
              </a:rPr>
              <a:t>, suggesting a need for focused improvements in customer satisfaction , for products below </a:t>
            </a:r>
            <a:r>
              <a:rPr lang="en-US" sz="1400" dirty="0">
                <a:solidFill>
                  <a:schemeClr val="tx1">
                    <a:lumMod val="95000"/>
                    <a:lumOff val="5000"/>
                  </a:schemeClr>
                </a:solidFill>
                <a:highlight>
                  <a:srgbClr val="FFFF00"/>
                </a:highlight>
                <a:latin typeface="Aptos" panose="020B0004020202020204" pitchFamily="34" charset="0"/>
              </a:rPr>
              <a:t>3.5</a:t>
            </a:r>
          </a:p>
        </p:txBody>
      </p:sp>
      <p:pic>
        <p:nvPicPr>
          <p:cNvPr id="3" name="Picture 2">
            <a:extLst>
              <a:ext uri="{FF2B5EF4-FFF2-40B4-BE49-F238E27FC236}">
                <a16:creationId xmlns:a16="http://schemas.microsoft.com/office/drawing/2014/main" id="{048E81F5-9E68-6488-E909-A05A8BB85D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1154" y="10508"/>
            <a:ext cx="7171114" cy="6847492"/>
          </a:xfrm>
          <a:prstGeom prst="rect">
            <a:avLst/>
          </a:prstGeom>
          <a:ln>
            <a:solidFill>
              <a:schemeClr val="tx1"/>
            </a:solidFill>
          </a:ln>
        </p:spPr>
      </p:pic>
      <p:sp>
        <p:nvSpPr>
          <p:cNvPr id="4" name="Oval 3">
            <a:extLst>
              <a:ext uri="{FF2B5EF4-FFF2-40B4-BE49-F238E27FC236}">
                <a16:creationId xmlns:a16="http://schemas.microsoft.com/office/drawing/2014/main" id="{FFF4D320-85B5-C428-8FC7-2A7B26D4D52B}"/>
              </a:ext>
            </a:extLst>
          </p:cNvPr>
          <p:cNvSpPr/>
          <p:nvPr/>
        </p:nvSpPr>
        <p:spPr>
          <a:xfrm>
            <a:off x="10762593" y="1281605"/>
            <a:ext cx="1578345" cy="1314450"/>
          </a:xfrm>
          <a:prstGeom prst="ellipse">
            <a:avLst/>
          </a:prstGeom>
          <a:noFill/>
          <a:ln w="1905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DD1703-ED2C-25AC-520C-2CCB47A5D46B}"/>
              </a:ext>
            </a:extLst>
          </p:cNvPr>
          <p:cNvSpPr txBox="1"/>
          <p:nvPr/>
        </p:nvSpPr>
        <p:spPr>
          <a:xfrm>
            <a:off x="3111623" y="112685"/>
            <a:ext cx="1775687"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Overview</a:t>
            </a:r>
            <a:endParaRPr lang="en-US" sz="2400" dirty="0">
              <a:solidFill>
                <a:schemeClr val="tx1">
                  <a:lumMod val="95000"/>
                  <a:lumOff val="5000"/>
                </a:schemeClr>
              </a:solidFill>
              <a:highlight>
                <a:srgbClr val="FFFF00"/>
              </a:highlight>
              <a:latin typeface="Aptos" panose="020B0004020202020204" pitchFamily="34" charset="0"/>
            </a:endParaRPr>
          </a:p>
        </p:txBody>
      </p:sp>
      <p:cxnSp>
        <p:nvCxnSpPr>
          <p:cNvPr id="13" name="Straight Arrow Connector 12">
            <a:extLst>
              <a:ext uri="{FF2B5EF4-FFF2-40B4-BE49-F238E27FC236}">
                <a16:creationId xmlns:a16="http://schemas.microsoft.com/office/drawing/2014/main" id="{B704B062-46B3-9A7E-6134-E43E7157E72C}"/>
              </a:ext>
            </a:extLst>
          </p:cNvPr>
          <p:cNvCxnSpPr/>
          <p:nvPr/>
        </p:nvCxnSpPr>
        <p:spPr>
          <a:xfrm>
            <a:off x="6905297" y="1511783"/>
            <a:ext cx="1702675" cy="390589"/>
          </a:xfrm>
          <a:prstGeom prst="straightConnector1">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14" name="Oval 13">
            <a:extLst>
              <a:ext uri="{FF2B5EF4-FFF2-40B4-BE49-F238E27FC236}">
                <a16:creationId xmlns:a16="http://schemas.microsoft.com/office/drawing/2014/main" id="{82BA7A0A-712E-B9E5-AE9C-780656E9799C}"/>
              </a:ext>
            </a:extLst>
          </p:cNvPr>
          <p:cNvSpPr/>
          <p:nvPr/>
        </p:nvSpPr>
        <p:spPr>
          <a:xfrm>
            <a:off x="6683849" y="5155325"/>
            <a:ext cx="2145570" cy="1314450"/>
          </a:xfrm>
          <a:prstGeom prst="ellipse">
            <a:avLst/>
          </a:prstGeom>
          <a:noFill/>
          <a:ln w="1905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541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91E48F-B3AC-2AA1-9E09-AD9000E34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241" y="-353292"/>
            <a:ext cx="3047486" cy="1455174"/>
          </a:xfrm>
          <a:prstGeom prst="rect">
            <a:avLst/>
          </a:prstGeom>
        </p:spPr>
      </p:pic>
      <p:sp>
        <p:nvSpPr>
          <p:cNvPr id="5" name="TextBox 4">
            <a:extLst>
              <a:ext uri="{FF2B5EF4-FFF2-40B4-BE49-F238E27FC236}">
                <a16:creationId xmlns:a16="http://schemas.microsoft.com/office/drawing/2014/main" id="{F9E78BF6-C980-F339-FE2B-24546E75FB86}"/>
              </a:ext>
            </a:extLst>
          </p:cNvPr>
          <p:cNvSpPr txBox="1"/>
          <p:nvPr/>
        </p:nvSpPr>
        <p:spPr>
          <a:xfrm>
            <a:off x="2817334" y="123196"/>
            <a:ext cx="5107467"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Decreased Conversion Rate</a:t>
            </a:r>
            <a:endParaRPr lang="en-US" sz="2400" dirty="0">
              <a:solidFill>
                <a:schemeClr val="tx1">
                  <a:lumMod val="95000"/>
                  <a:lumOff val="5000"/>
                </a:schemeClr>
              </a:solidFill>
              <a:latin typeface="Aptos" panose="020B0004020202020204" pitchFamily="34" charset="0"/>
            </a:endParaRPr>
          </a:p>
        </p:txBody>
      </p:sp>
      <p:pic>
        <p:nvPicPr>
          <p:cNvPr id="7" name="Picture 6">
            <a:extLst>
              <a:ext uri="{FF2B5EF4-FFF2-40B4-BE49-F238E27FC236}">
                <a16:creationId xmlns:a16="http://schemas.microsoft.com/office/drawing/2014/main" id="{68D7ECB3-FE61-04A5-E295-0E0F96C48FE2}"/>
              </a:ext>
            </a:extLst>
          </p:cNvPr>
          <p:cNvPicPr>
            <a:picLocks noChangeAspect="1"/>
          </p:cNvPicPr>
          <p:nvPr/>
        </p:nvPicPr>
        <p:blipFill>
          <a:blip r:embed="rId4">
            <a:extLst>
              <a:ext uri="{28A0092B-C50C-407E-A947-70E740481C1C}">
                <a14:useLocalDpi xmlns:a14="http://schemas.microsoft.com/office/drawing/2010/main" val="0"/>
              </a:ext>
            </a:extLst>
          </a:blip>
          <a:srcRect l="13166" t="32677" r="29633" b="859"/>
          <a:stretch>
            <a:fillRect/>
          </a:stretch>
        </p:blipFill>
        <p:spPr>
          <a:xfrm>
            <a:off x="5483667" y="1573480"/>
            <a:ext cx="6708333" cy="3901484"/>
          </a:xfrm>
          <a:prstGeom prst="rect">
            <a:avLst/>
          </a:prstGeom>
        </p:spPr>
      </p:pic>
      <p:sp>
        <p:nvSpPr>
          <p:cNvPr id="8" name="TextBox 7">
            <a:extLst>
              <a:ext uri="{FF2B5EF4-FFF2-40B4-BE49-F238E27FC236}">
                <a16:creationId xmlns:a16="http://schemas.microsoft.com/office/drawing/2014/main" id="{AE3FE598-8515-30A4-BBC1-E000A9AAA443}"/>
              </a:ext>
            </a:extLst>
          </p:cNvPr>
          <p:cNvSpPr txBox="1"/>
          <p:nvPr/>
        </p:nvSpPr>
        <p:spPr>
          <a:xfrm>
            <a:off x="195003" y="1511783"/>
            <a:ext cx="4992484" cy="4708981"/>
          </a:xfrm>
          <a:prstGeom prst="rect">
            <a:avLst/>
          </a:prstGeom>
          <a:noFill/>
        </p:spPr>
        <p:txBody>
          <a:bodyPr wrap="square" rtlCol="0">
            <a:spAutoFit/>
          </a:bodyPr>
          <a:lstStyle/>
          <a:p>
            <a:r>
              <a:rPr lang="en-US" sz="1600" dirty="0">
                <a:solidFill>
                  <a:schemeClr val="tx1">
                    <a:lumMod val="95000"/>
                    <a:lumOff val="5000"/>
                  </a:schemeClr>
                </a:solidFill>
                <a:latin typeface="Aptos Black" panose="020B0004020202020204" pitchFamily="34" charset="0"/>
              </a:rPr>
              <a:t>General Conversion Trend:</a:t>
            </a: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Through the year conversion rate varied, with higher number of products converting successfully in months like </a:t>
            </a:r>
            <a:r>
              <a:rPr lang="en-US" sz="1400" dirty="0">
                <a:solidFill>
                  <a:schemeClr val="tx1">
                    <a:lumMod val="95000"/>
                    <a:lumOff val="5000"/>
                  </a:schemeClr>
                </a:solidFill>
                <a:highlight>
                  <a:srgbClr val="FFFF00"/>
                </a:highlight>
                <a:latin typeface="Aptos" panose="020B0004020202020204" pitchFamily="34" charset="0"/>
              </a:rPr>
              <a:t>February</a:t>
            </a:r>
            <a:r>
              <a:rPr lang="en-US" sz="1400" dirty="0">
                <a:solidFill>
                  <a:schemeClr val="tx1">
                    <a:lumMod val="95000"/>
                    <a:lumOff val="5000"/>
                  </a:schemeClr>
                </a:solidFill>
                <a:latin typeface="Aptos" panose="020B0004020202020204" pitchFamily="34" charset="0"/>
              </a:rPr>
              <a:t> and </a:t>
            </a:r>
            <a:r>
              <a:rPr lang="en-US" sz="1400" dirty="0">
                <a:solidFill>
                  <a:schemeClr val="tx1">
                    <a:lumMod val="95000"/>
                    <a:lumOff val="5000"/>
                  </a:schemeClr>
                </a:solidFill>
                <a:highlight>
                  <a:srgbClr val="FFFF00"/>
                </a:highlight>
                <a:latin typeface="Aptos" panose="020B0004020202020204" pitchFamily="34" charset="0"/>
              </a:rPr>
              <a:t>July</a:t>
            </a:r>
            <a:r>
              <a:rPr lang="en-US" sz="1400" dirty="0">
                <a:solidFill>
                  <a:schemeClr val="tx1">
                    <a:lumMod val="95000"/>
                    <a:lumOff val="5000"/>
                  </a:schemeClr>
                </a:solidFill>
                <a:latin typeface="Aptos" panose="020B0004020202020204" pitchFamily="34" charset="0"/>
              </a:rPr>
              <a:t>. This suggests that while some products had strong seasonal peaks, there is potential to improve conversions in lower-performing months through targeted interventions.</a:t>
            </a:r>
          </a:p>
          <a:p>
            <a:pPr marL="742950" lvl="1" indent="-285750">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r>
              <a:rPr lang="en-US" sz="1600" dirty="0">
                <a:solidFill>
                  <a:schemeClr val="tx1">
                    <a:lumMod val="95000"/>
                    <a:lumOff val="5000"/>
                  </a:schemeClr>
                </a:solidFill>
                <a:latin typeface="Aptos Black" panose="020B0004020202020204" pitchFamily="34" charset="0"/>
              </a:rPr>
              <a:t>Lowest Conversion Month:</a:t>
            </a: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May experienced the lowest overall conversion rate at </a:t>
            </a:r>
            <a:r>
              <a:rPr lang="en-US" sz="1400" dirty="0">
                <a:solidFill>
                  <a:schemeClr val="tx1">
                    <a:lumMod val="95000"/>
                    <a:lumOff val="5000"/>
                  </a:schemeClr>
                </a:solidFill>
                <a:highlight>
                  <a:srgbClr val="FFFF00"/>
                </a:highlight>
                <a:latin typeface="Aptos" panose="020B0004020202020204" pitchFamily="34" charset="0"/>
              </a:rPr>
              <a:t>4.48% </a:t>
            </a:r>
            <a:r>
              <a:rPr lang="en-US" sz="1400" dirty="0">
                <a:solidFill>
                  <a:schemeClr val="tx1">
                    <a:lumMod val="95000"/>
                    <a:lumOff val="5000"/>
                  </a:schemeClr>
                </a:solidFill>
                <a:latin typeface="Aptos" panose="020B0004020202020204" pitchFamily="34" charset="0"/>
              </a:rPr>
              <a:t>, with no products standing out significantly in terms of conversation. This indicates a potential  need to revisit marketing strategies or promotions during this period to boost performance.</a:t>
            </a:r>
          </a:p>
          <a:p>
            <a:pPr marL="742950" lvl="1" indent="-285750">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r>
              <a:rPr lang="en-US" sz="1600" dirty="0">
                <a:solidFill>
                  <a:schemeClr val="tx1">
                    <a:lumMod val="95000"/>
                    <a:lumOff val="5000"/>
                  </a:schemeClr>
                </a:solidFill>
                <a:latin typeface="Aptos Black" panose="020B0004020202020204" pitchFamily="34" charset="0"/>
              </a:rPr>
              <a:t>Highest Conversion Rates:</a:t>
            </a:r>
          </a:p>
          <a:p>
            <a:pPr marL="742950" lvl="1" indent="-285750">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January recorded the highest overall conversion rate at </a:t>
            </a:r>
            <a:r>
              <a:rPr lang="en-US" sz="1400" dirty="0">
                <a:solidFill>
                  <a:schemeClr val="tx1">
                    <a:lumMod val="95000"/>
                    <a:lumOff val="5000"/>
                  </a:schemeClr>
                </a:solidFill>
                <a:highlight>
                  <a:srgbClr val="00FF00"/>
                </a:highlight>
                <a:latin typeface="Aptos" panose="020B0004020202020204" pitchFamily="34" charset="0"/>
              </a:rPr>
              <a:t>19.61%</a:t>
            </a:r>
            <a:r>
              <a:rPr lang="en-US" sz="1400" dirty="0">
                <a:solidFill>
                  <a:schemeClr val="tx1">
                    <a:lumMod val="95000"/>
                    <a:lumOff val="5000"/>
                  </a:schemeClr>
                </a:solidFill>
                <a:latin typeface="Aptos" panose="020B0004020202020204" pitchFamily="34" charset="0"/>
              </a:rPr>
              <a:t> driven significantly by Ski Boots with a remarkable </a:t>
            </a:r>
            <a:r>
              <a:rPr lang="en-US" sz="1400" dirty="0">
                <a:solidFill>
                  <a:schemeClr val="tx1">
                    <a:lumMod val="95000"/>
                    <a:lumOff val="5000"/>
                  </a:schemeClr>
                </a:solidFill>
                <a:highlight>
                  <a:srgbClr val="00FF00"/>
                </a:highlight>
                <a:latin typeface="Aptos" panose="020B0004020202020204" pitchFamily="34" charset="0"/>
              </a:rPr>
              <a:t>150%</a:t>
            </a:r>
            <a:r>
              <a:rPr lang="en-US" sz="1400" dirty="0">
                <a:solidFill>
                  <a:schemeClr val="tx1">
                    <a:lumMod val="95000"/>
                    <a:lumOff val="5000"/>
                  </a:schemeClr>
                </a:solidFill>
                <a:latin typeface="Aptos" panose="020B0004020202020204" pitchFamily="34" charset="0"/>
              </a:rPr>
              <a:t> conversion. This indicates a strong start to the year, likely fueled by seasonal demand and effective marketing strategies.</a:t>
            </a:r>
          </a:p>
        </p:txBody>
      </p:sp>
      <p:sp>
        <p:nvSpPr>
          <p:cNvPr id="9" name="Rectangle 8">
            <a:extLst>
              <a:ext uri="{FF2B5EF4-FFF2-40B4-BE49-F238E27FC236}">
                <a16:creationId xmlns:a16="http://schemas.microsoft.com/office/drawing/2014/main" id="{7FE513E8-8B52-6B6D-BD44-0E22E213C2A7}"/>
              </a:ext>
            </a:extLst>
          </p:cNvPr>
          <p:cNvSpPr/>
          <p:nvPr/>
        </p:nvSpPr>
        <p:spPr>
          <a:xfrm>
            <a:off x="6370320" y="1747520"/>
            <a:ext cx="457200" cy="3727444"/>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146E9B-7642-5B0D-FE21-4F9C5B271787}"/>
              </a:ext>
            </a:extLst>
          </p:cNvPr>
          <p:cNvSpPr/>
          <p:nvPr/>
        </p:nvSpPr>
        <p:spPr>
          <a:xfrm>
            <a:off x="8158480" y="1741780"/>
            <a:ext cx="457200" cy="3727444"/>
          </a:xfrm>
          <a:prstGeom prst="rect">
            <a:avLst/>
          </a:prstGeom>
          <a:noFill/>
          <a:ln w="28575">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2E9F55D-1551-FEB0-E4CB-F9D41DA47BF0}"/>
              </a:ext>
            </a:extLst>
          </p:cNvPr>
          <p:cNvSpPr/>
          <p:nvPr/>
        </p:nvSpPr>
        <p:spPr>
          <a:xfrm>
            <a:off x="6895100" y="5200650"/>
            <a:ext cx="457200" cy="226664"/>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1B9D16E-3BFF-DD07-66AD-A6C2848AA78C}"/>
              </a:ext>
            </a:extLst>
          </p:cNvPr>
          <p:cNvSpPr/>
          <p:nvPr/>
        </p:nvSpPr>
        <p:spPr>
          <a:xfrm>
            <a:off x="9101090" y="5217764"/>
            <a:ext cx="457200" cy="226664"/>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4717876"/>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5E4B-8D61-4FE1-0347-F3D8E415A51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BFA5678-12BA-6187-A4E7-67089D4BA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241" y="-353292"/>
            <a:ext cx="3047486" cy="1455174"/>
          </a:xfrm>
          <a:prstGeom prst="rect">
            <a:avLst/>
          </a:prstGeom>
        </p:spPr>
      </p:pic>
      <p:sp>
        <p:nvSpPr>
          <p:cNvPr id="5" name="TextBox 4">
            <a:extLst>
              <a:ext uri="{FF2B5EF4-FFF2-40B4-BE49-F238E27FC236}">
                <a16:creationId xmlns:a16="http://schemas.microsoft.com/office/drawing/2014/main" id="{436310EF-97ED-07A5-A793-7ED36951704E}"/>
              </a:ext>
            </a:extLst>
          </p:cNvPr>
          <p:cNvSpPr txBox="1"/>
          <p:nvPr/>
        </p:nvSpPr>
        <p:spPr>
          <a:xfrm>
            <a:off x="2817334" y="123196"/>
            <a:ext cx="6037106"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Reduced Customer Engagement</a:t>
            </a:r>
            <a:endParaRPr lang="en-US" sz="2400" dirty="0">
              <a:solidFill>
                <a:schemeClr val="tx1">
                  <a:lumMod val="95000"/>
                  <a:lumOff val="5000"/>
                </a:schemeClr>
              </a:solidFill>
              <a:latin typeface="Aptos" panose="020B0004020202020204" pitchFamily="34" charset="0"/>
            </a:endParaRPr>
          </a:p>
        </p:txBody>
      </p:sp>
      <p:sp>
        <p:nvSpPr>
          <p:cNvPr id="8" name="TextBox 7">
            <a:extLst>
              <a:ext uri="{FF2B5EF4-FFF2-40B4-BE49-F238E27FC236}">
                <a16:creationId xmlns:a16="http://schemas.microsoft.com/office/drawing/2014/main" id="{B02D0898-E629-6F85-E84F-AD65E2167574}"/>
              </a:ext>
            </a:extLst>
          </p:cNvPr>
          <p:cNvSpPr txBox="1"/>
          <p:nvPr/>
        </p:nvSpPr>
        <p:spPr>
          <a:xfrm>
            <a:off x="402310" y="1020532"/>
            <a:ext cx="4992484" cy="5089022"/>
          </a:xfrm>
          <a:prstGeom prst="rect">
            <a:avLst/>
          </a:prstGeom>
          <a:noFill/>
        </p:spPr>
        <p:txBody>
          <a:bodyPr wrap="square" rtlCol="0">
            <a:spAutoFit/>
          </a:bodyPr>
          <a:lstStyle/>
          <a:p>
            <a:pPr>
              <a:lnSpc>
                <a:spcPct val="150000"/>
              </a:lnSpc>
            </a:pPr>
            <a:r>
              <a:rPr lang="en-US" sz="1600" dirty="0">
                <a:solidFill>
                  <a:schemeClr val="tx1">
                    <a:lumMod val="95000"/>
                    <a:lumOff val="5000"/>
                  </a:schemeClr>
                </a:solidFill>
                <a:latin typeface="Aptos Black" panose="020B0004020202020204" pitchFamily="34" charset="0"/>
              </a:rPr>
              <a:t>Decline Views: </a:t>
            </a:r>
          </a:p>
          <a:p>
            <a:pPr marL="742950" lvl="1" indent="-285750">
              <a:lnSpc>
                <a:spcPct val="150000"/>
              </a:lnSpc>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Views peaked in February and July but declined from august and on, indicating reduced audience engagement in the later half of the year  </a:t>
            </a:r>
          </a:p>
          <a:p>
            <a:pPr marL="742950" lvl="1" indent="-285750">
              <a:lnSpc>
                <a:spcPct val="150000"/>
              </a:lnSpc>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a:lnSpc>
                <a:spcPct val="150000"/>
              </a:lnSpc>
            </a:pPr>
            <a:r>
              <a:rPr lang="en-US" sz="1600" dirty="0">
                <a:solidFill>
                  <a:schemeClr val="tx1">
                    <a:lumMod val="95000"/>
                    <a:lumOff val="5000"/>
                  </a:schemeClr>
                </a:solidFill>
                <a:latin typeface="Aptos Black" panose="020B0004020202020204" pitchFamily="34" charset="0"/>
              </a:rPr>
              <a:t>Low Interaction Rate:</a:t>
            </a:r>
          </a:p>
          <a:p>
            <a:pPr marL="742950" lvl="1" indent="-285750">
              <a:lnSpc>
                <a:spcPct val="150000"/>
              </a:lnSpc>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Clicks and likes remained consistently low compared to views , suggesting the need for more engaging content or stronger call to action.</a:t>
            </a:r>
          </a:p>
          <a:p>
            <a:pPr marL="742950" lvl="1" indent="-285750">
              <a:lnSpc>
                <a:spcPct val="150000"/>
              </a:lnSpc>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a:lnSpc>
                <a:spcPct val="150000"/>
              </a:lnSpc>
            </a:pPr>
            <a:r>
              <a:rPr lang="en-US" sz="1600" dirty="0">
                <a:solidFill>
                  <a:schemeClr val="tx1">
                    <a:lumMod val="95000"/>
                    <a:lumOff val="5000"/>
                  </a:schemeClr>
                </a:solidFill>
                <a:latin typeface="Aptos Black" panose="020B0004020202020204" pitchFamily="34" charset="0"/>
              </a:rPr>
              <a:t>Content Type Performance:</a:t>
            </a:r>
          </a:p>
          <a:p>
            <a:pPr marL="742950" lvl="1" indent="-285750">
              <a:lnSpc>
                <a:spcPct val="150000"/>
              </a:lnSpc>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Blog content drove the most views, especially in Mar and May while social media and video content , maintained steady but slightly lower engagement.</a:t>
            </a:r>
          </a:p>
          <a:p>
            <a:pPr>
              <a:lnSpc>
                <a:spcPct val="150000"/>
              </a:lnSpc>
            </a:pPr>
            <a:endParaRPr lang="en-US" sz="1600" dirty="0">
              <a:solidFill>
                <a:schemeClr val="tx1">
                  <a:lumMod val="95000"/>
                  <a:lumOff val="5000"/>
                </a:schemeClr>
              </a:solidFill>
              <a:latin typeface="Aptos Black" panose="020B0004020202020204" pitchFamily="34" charset="0"/>
            </a:endParaRPr>
          </a:p>
        </p:txBody>
      </p:sp>
      <p:pic>
        <p:nvPicPr>
          <p:cNvPr id="13" name="Picture 12">
            <a:extLst>
              <a:ext uri="{FF2B5EF4-FFF2-40B4-BE49-F238E27FC236}">
                <a16:creationId xmlns:a16="http://schemas.microsoft.com/office/drawing/2014/main" id="{B03C5577-5AFD-4222-D811-7D793A8D9A82}"/>
              </a:ext>
            </a:extLst>
          </p:cNvPr>
          <p:cNvPicPr>
            <a:picLocks noChangeAspect="1"/>
          </p:cNvPicPr>
          <p:nvPr/>
        </p:nvPicPr>
        <p:blipFill>
          <a:blip r:embed="rId4">
            <a:extLst>
              <a:ext uri="{28A0092B-C50C-407E-A947-70E740481C1C}">
                <a14:useLocalDpi xmlns:a14="http://schemas.microsoft.com/office/drawing/2010/main" val="0"/>
              </a:ext>
            </a:extLst>
          </a:blip>
          <a:srcRect l="56889" b="74651"/>
          <a:stretch>
            <a:fillRect/>
          </a:stretch>
        </p:blipFill>
        <p:spPr>
          <a:xfrm>
            <a:off x="5835887" y="3699149"/>
            <a:ext cx="6161110" cy="2301897"/>
          </a:xfrm>
          <a:prstGeom prst="rect">
            <a:avLst/>
          </a:prstGeom>
          <a:ln>
            <a:solidFill>
              <a:schemeClr val="tx1"/>
            </a:solidFill>
          </a:ln>
        </p:spPr>
      </p:pic>
      <p:pic>
        <p:nvPicPr>
          <p:cNvPr id="17" name="Picture 16">
            <a:extLst>
              <a:ext uri="{FF2B5EF4-FFF2-40B4-BE49-F238E27FC236}">
                <a16:creationId xmlns:a16="http://schemas.microsoft.com/office/drawing/2014/main" id="{4F487F47-5E5C-7834-D833-1FA7F0CCC990}"/>
              </a:ext>
            </a:extLst>
          </p:cNvPr>
          <p:cNvPicPr>
            <a:picLocks noChangeAspect="1"/>
          </p:cNvPicPr>
          <p:nvPr/>
        </p:nvPicPr>
        <p:blipFill>
          <a:blip r:embed="rId5">
            <a:extLst>
              <a:ext uri="{28A0092B-C50C-407E-A947-70E740481C1C}">
                <a14:useLocalDpi xmlns:a14="http://schemas.microsoft.com/office/drawing/2010/main" val="0"/>
              </a:ext>
            </a:extLst>
          </a:blip>
          <a:srcRect l="13581" t="14820" r="48968" b="56677"/>
          <a:stretch>
            <a:fillRect/>
          </a:stretch>
        </p:blipFill>
        <p:spPr>
          <a:xfrm>
            <a:off x="5959891" y="926779"/>
            <a:ext cx="6037106" cy="2638264"/>
          </a:xfrm>
          <a:prstGeom prst="rect">
            <a:avLst/>
          </a:prstGeom>
          <a:ln>
            <a:solidFill>
              <a:schemeClr val="tx1"/>
            </a:solidFill>
          </a:ln>
        </p:spPr>
      </p:pic>
      <p:cxnSp>
        <p:nvCxnSpPr>
          <p:cNvPr id="18" name="Straight Arrow Connector 17">
            <a:extLst>
              <a:ext uri="{FF2B5EF4-FFF2-40B4-BE49-F238E27FC236}">
                <a16:creationId xmlns:a16="http://schemas.microsoft.com/office/drawing/2014/main" id="{2D0680A3-6779-587F-3EEC-A0DBF39570BA}"/>
              </a:ext>
            </a:extLst>
          </p:cNvPr>
          <p:cNvCxnSpPr>
            <a:cxnSpLocks/>
          </p:cNvCxnSpPr>
          <p:nvPr/>
        </p:nvCxnSpPr>
        <p:spPr>
          <a:xfrm>
            <a:off x="9653286" y="1736203"/>
            <a:ext cx="2136404" cy="509708"/>
          </a:xfrm>
          <a:prstGeom prst="straightConnector1">
            <a:avLst/>
          </a:prstGeom>
          <a:ln w="76200">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21" name="Oval 20">
            <a:extLst>
              <a:ext uri="{FF2B5EF4-FFF2-40B4-BE49-F238E27FC236}">
                <a16:creationId xmlns:a16="http://schemas.microsoft.com/office/drawing/2014/main" id="{A7775527-F5C1-453A-AC4B-1046603451D3}"/>
              </a:ext>
            </a:extLst>
          </p:cNvPr>
          <p:cNvSpPr/>
          <p:nvPr/>
        </p:nvSpPr>
        <p:spPr>
          <a:xfrm>
            <a:off x="7535118" y="5532322"/>
            <a:ext cx="428263" cy="32907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sp>
        <p:nvSpPr>
          <p:cNvPr id="22" name="Oval 21">
            <a:extLst>
              <a:ext uri="{FF2B5EF4-FFF2-40B4-BE49-F238E27FC236}">
                <a16:creationId xmlns:a16="http://schemas.microsoft.com/office/drawing/2014/main" id="{5A8A2756-C362-DE7D-E403-D187205E157C}"/>
              </a:ext>
            </a:extLst>
          </p:cNvPr>
          <p:cNvSpPr/>
          <p:nvPr/>
        </p:nvSpPr>
        <p:spPr>
          <a:xfrm>
            <a:off x="8351982" y="5532322"/>
            <a:ext cx="428263" cy="32907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spTree>
    <p:extLst>
      <p:ext uri="{BB962C8B-B14F-4D97-AF65-F5344CB8AC3E}">
        <p14:creationId xmlns:p14="http://schemas.microsoft.com/office/powerpoint/2010/main" val="2314351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FC54-07CA-5441-52DB-4F26135B470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649688-94DB-3596-9B94-9EF2DF22FC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241" y="-353292"/>
            <a:ext cx="3047486" cy="1455174"/>
          </a:xfrm>
          <a:prstGeom prst="rect">
            <a:avLst/>
          </a:prstGeom>
        </p:spPr>
      </p:pic>
      <p:sp>
        <p:nvSpPr>
          <p:cNvPr id="5" name="TextBox 4">
            <a:extLst>
              <a:ext uri="{FF2B5EF4-FFF2-40B4-BE49-F238E27FC236}">
                <a16:creationId xmlns:a16="http://schemas.microsoft.com/office/drawing/2014/main" id="{471969C6-D91A-BE2E-AF46-80D7FA1224AC}"/>
              </a:ext>
            </a:extLst>
          </p:cNvPr>
          <p:cNvSpPr txBox="1"/>
          <p:nvPr/>
        </p:nvSpPr>
        <p:spPr>
          <a:xfrm>
            <a:off x="2817334" y="123196"/>
            <a:ext cx="6037106"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Customer Feedback Analysis</a:t>
            </a:r>
            <a:endParaRPr lang="en-US" sz="2400" dirty="0">
              <a:solidFill>
                <a:schemeClr val="tx1">
                  <a:lumMod val="95000"/>
                  <a:lumOff val="5000"/>
                </a:schemeClr>
              </a:solidFill>
              <a:latin typeface="Aptos" panose="020B0004020202020204" pitchFamily="34" charset="0"/>
            </a:endParaRPr>
          </a:p>
        </p:txBody>
      </p:sp>
      <p:sp>
        <p:nvSpPr>
          <p:cNvPr id="8" name="TextBox 7">
            <a:extLst>
              <a:ext uri="{FF2B5EF4-FFF2-40B4-BE49-F238E27FC236}">
                <a16:creationId xmlns:a16="http://schemas.microsoft.com/office/drawing/2014/main" id="{DBDE2BD1-C4A1-6C63-AF0B-263E85AE8747}"/>
              </a:ext>
            </a:extLst>
          </p:cNvPr>
          <p:cNvSpPr txBox="1"/>
          <p:nvPr/>
        </p:nvSpPr>
        <p:spPr>
          <a:xfrm>
            <a:off x="144410" y="1020532"/>
            <a:ext cx="6565418" cy="6058518"/>
          </a:xfrm>
          <a:prstGeom prst="rect">
            <a:avLst/>
          </a:prstGeom>
          <a:noFill/>
        </p:spPr>
        <p:txBody>
          <a:bodyPr wrap="square" rtlCol="0">
            <a:spAutoFit/>
          </a:bodyPr>
          <a:lstStyle/>
          <a:p>
            <a:pPr>
              <a:lnSpc>
                <a:spcPct val="150000"/>
              </a:lnSpc>
            </a:pPr>
            <a:r>
              <a:rPr lang="en-US" sz="1600" dirty="0">
                <a:solidFill>
                  <a:schemeClr val="tx1">
                    <a:lumMod val="95000"/>
                    <a:lumOff val="5000"/>
                  </a:schemeClr>
                </a:solidFill>
                <a:latin typeface="Aptos Black" panose="020B0004020202020204" pitchFamily="34" charset="0"/>
              </a:rPr>
              <a:t>Customer Rating Distributions:</a:t>
            </a:r>
          </a:p>
          <a:p>
            <a:pPr marL="742950" lvl="1" indent="-285750">
              <a:lnSpc>
                <a:spcPct val="150000"/>
              </a:lnSpc>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The majority of customer reviews are in the higher ratings, with 140  reviews at 4 stars and 135 reviews at 5 stars, indicating overall positive feedback. Lower ratings (1-2 stars) account for a smaller proportion, with 26 review at 1 star and 57 review at 2 stars.</a:t>
            </a:r>
          </a:p>
          <a:p>
            <a:pPr marL="742950" lvl="1" indent="-285750">
              <a:lnSpc>
                <a:spcPct val="150000"/>
              </a:lnSpc>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a:lnSpc>
                <a:spcPct val="150000"/>
              </a:lnSpc>
            </a:pPr>
            <a:r>
              <a:rPr lang="en-US" sz="1600" dirty="0">
                <a:solidFill>
                  <a:schemeClr val="tx1">
                    <a:lumMod val="95000"/>
                    <a:lumOff val="5000"/>
                  </a:schemeClr>
                </a:solidFill>
                <a:latin typeface="Aptos Black" panose="020B0004020202020204" pitchFamily="34" charset="0"/>
              </a:rPr>
              <a:t>Sentiment Analysis:</a:t>
            </a:r>
          </a:p>
          <a:p>
            <a:pPr marL="742950" lvl="1" indent="-285750">
              <a:lnSpc>
                <a:spcPct val="150000"/>
              </a:lnSpc>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Positive sentiment  dominates with a 275 reviews, reflected a generally satisfied customer base. Negative sentiment is present in 82 reviews, with a smaller number of mixed and neutral sentiments, suggesting some areas for improvement but overall  strong customer approval</a:t>
            </a:r>
          </a:p>
          <a:p>
            <a:pPr marL="742950" lvl="1" indent="-285750">
              <a:lnSpc>
                <a:spcPct val="150000"/>
              </a:lnSpc>
              <a:buFont typeface="Arial" panose="020B0604020202020204" pitchFamily="34" charset="0"/>
              <a:buChar char="•"/>
            </a:pPr>
            <a:endParaRPr lang="en-US" sz="1400" dirty="0">
              <a:solidFill>
                <a:schemeClr val="tx1">
                  <a:lumMod val="95000"/>
                  <a:lumOff val="5000"/>
                </a:schemeClr>
              </a:solidFill>
              <a:latin typeface="Aptos" panose="020B0004020202020204" pitchFamily="34" charset="0"/>
            </a:endParaRPr>
          </a:p>
          <a:p>
            <a:pPr>
              <a:lnSpc>
                <a:spcPct val="150000"/>
              </a:lnSpc>
            </a:pPr>
            <a:r>
              <a:rPr lang="en-US" sz="1600" dirty="0">
                <a:solidFill>
                  <a:schemeClr val="tx1">
                    <a:lumMod val="95000"/>
                    <a:lumOff val="5000"/>
                  </a:schemeClr>
                </a:solidFill>
                <a:latin typeface="Aptos Black" panose="020B0004020202020204" pitchFamily="34" charset="0"/>
              </a:rPr>
              <a:t>Opportunity for Improvement:</a:t>
            </a:r>
          </a:p>
          <a:p>
            <a:pPr marL="742950" lvl="1" indent="-285750">
              <a:lnSpc>
                <a:spcPct val="150000"/>
              </a:lnSpc>
              <a:buFont typeface="Arial" panose="020B0604020202020204" pitchFamily="34" charset="0"/>
              <a:buChar char="•"/>
            </a:pPr>
            <a:r>
              <a:rPr lang="en-US" sz="1400" dirty="0">
                <a:solidFill>
                  <a:schemeClr val="tx1">
                    <a:lumMod val="95000"/>
                    <a:lumOff val="5000"/>
                  </a:schemeClr>
                </a:solidFill>
                <a:latin typeface="Aptos" panose="020B0004020202020204" pitchFamily="34" charset="0"/>
              </a:rPr>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p>
          <a:p>
            <a:pPr>
              <a:lnSpc>
                <a:spcPct val="150000"/>
              </a:lnSpc>
            </a:pPr>
            <a:endParaRPr lang="en-US" sz="1600" dirty="0">
              <a:solidFill>
                <a:schemeClr val="tx1">
                  <a:lumMod val="95000"/>
                  <a:lumOff val="5000"/>
                </a:schemeClr>
              </a:solidFill>
              <a:latin typeface="Aptos Black" panose="020B0004020202020204" pitchFamily="34" charset="0"/>
            </a:endParaRPr>
          </a:p>
        </p:txBody>
      </p:sp>
      <p:pic>
        <p:nvPicPr>
          <p:cNvPr id="2" name="Picture 1">
            <a:extLst>
              <a:ext uri="{FF2B5EF4-FFF2-40B4-BE49-F238E27FC236}">
                <a16:creationId xmlns:a16="http://schemas.microsoft.com/office/drawing/2014/main" id="{82B1D740-9FA5-0E1C-F5BF-DB6BBB5969FF}"/>
              </a:ext>
            </a:extLst>
          </p:cNvPr>
          <p:cNvPicPr>
            <a:picLocks noChangeAspect="1"/>
          </p:cNvPicPr>
          <p:nvPr/>
        </p:nvPicPr>
        <p:blipFill>
          <a:blip r:embed="rId4"/>
          <a:stretch>
            <a:fillRect/>
          </a:stretch>
        </p:blipFill>
        <p:spPr>
          <a:xfrm>
            <a:off x="7055106" y="627268"/>
            <a:ext cx="4992484" cy="6230732"/>
          </a:xfrm>
          <a:prstGeom prst="rect">
            <a:avLst/>
          </a:prstGeom>
          <a:ln>
            <a:solidFill>
              <a:schemeClr val="tx1">
                <a:lumMod val="95000"/>
                <a:lumOff val="5000"/>
              </a:schemeClr>
            </a:solidFill>
          </a:ln>
        </p:spPr>
      </p:pic>
    </p:spTree>
    <p:extLst>
      <p:ext uri="{BB962C8B-B14F-4D97-AF65-F5344CB8AC3E}">
        <p14:creationId xmlns:p14="http://schemas.microsoft.com/office/powerpoint/2010/main" val="123560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0A2B2-53A2-9BD1-638F-A946A5BACB3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D253909-ED36-BB20-1514-7A24FAF175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241" y="-353292"/>
            <a:ext cx="3047486" cy="1455174"/>
          </a:xfrm>
          <a:prstGeom prst="rect">
            <a:avLst/>
          </a:prstGeom>
        </p:spPr>
      </p:pic>
      <p:sp>
        <p:nvSpPr>
          <p:cNvPr id="5" name="TextBox 4">
            <a:extLst>
              <a:ext uri="{FF2B5EF4-FFF2-40B4-BE49-F238E27FC236}">
                <a16:creationId xmlns:a16="http://schemas.microsoft.com/office/drawing/2014/main" id="{2D26EB37-F277-8185-261E-4E73619F7107}"/>
              </a:ext>
            </a:extLst>
          </p:cNvPr>
          <p:cNvSpPr txBox="1"/>
          <p:nvPr/>
        </p:nvSpPr>
        <p:spPr>
          <a:xfrm>
            <a:off x="2817334" y="123196"/>
            <a:ext cx="6037106"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Goals &amp; Actions</a:t>
            </a:r>
            <a:endParaRPr lang="en-US" sz="2400" dirty="0">
              <a:solidFill>
                <a:schemeClr val="tx1">
                  <a:lumMod val="95000"/>
                  <a:lumOff val="5000"/>
                </a:schemeClr>
              </a:solidFill>
              <a:latin typeface="Aptos" panose="020B0004020202020204" pitchFamily="34" charset="0"/>
            </a:endParaRPr>
          </a:p>
        </p:txBody>
      </p:sp>
      <p:sp>
        <p:nvSpPr>
          <p:cNvPr id="3" name="TextBox 2">
            <a:extLst>
              <a:ext uri="{FF2B5EF4-FFF2-40B4-BE49-F238E27FC236}">
                <a16:creationId xmlns:a16="http://schemas.microsoft.com/office/drawing/2014/main" id="{242BD569-5723-9815-D889-3C42C4399B78}"/>
              </a:ext>
            </a:extLst>
          </p:cNvPr>
          <p:cNvSpPr txBox="1"/>
          <p:nvPr/>
        </p:nvSpPr>
        <p:spPr>
          <a:xfrm>
            <a:off x="367863" y="1303151"/>
            <a:ext cx="5559972" cy="5236305"/>
          </a:xfrm>
          <a:prstGeom prst="rect">
            <a:avLst/>
          </a:prstGeom>
          <a:noFill/>
        </p:spPr>
        <p:txBody>
          <a:bodyPr wrap="square" rtlCol="0">
            <a:spAutoFit/>
          </a:bodyPr>
          <a:lstStyle/>
          <a:p>
            <a:pPr>
              <a:lnSpc>
                <a:spcPct val="170000"/>
              </a:lnSpc>
            </a:pPr>
            <a:r>
              <a:rPr lang="en-US" sz="1400" b="1" dirty="0">
                <a:latin typeface="Aptos" panose="020B0004020202020204" pitchFamily="34" charset="0"/>
              </a:rPr>
              <a:t>Increase Conversion Rates:</a:t>
            </a:r>
          </a:p>
          <a:p>
            <a:pPr lvl="1">
              <a:lnSpc>
                <a:spcPct val="170000"/>
              </a:lnSpc>
            </a:pPr>
            <a:r>
              <a:rPr lang="en-US" sz="1200" b="1" dirty="0">
                <a:latin typeface="Aptos" panose="020B0004020202020204" pitchFamily="34" charset="0"/>
              </a:rPr>
              <a:t>Goal</a:t>
            </a:r>
            <a:r>
              <a:rPr lang="en-US" sz="1200" dirty="0">
                <a:latin typeface="Aptos" panose="020B0004020202020204" pitchFamily="34" charset="0"/>
              </a:rPr>
              <a:t>: Identify factors impacting the conversion rate and provide recommendations to improve it.</a:t>
            </a:r>
          </a:p>
          <a:p>
            <a:pPr lvl="1">
              <a:lnSpc>
                <a:spcPct val="170000"/>
              </a:lnSpc>
            </a:pPr>
            <a:r>
              <a:rPr lang="en-US" sz="1200" b="1" dirty="0">
                <a:latin typeface="Aptos" panose="020B0004020202020204" pitchFamily="34" charset="0"/>
              </a:rPr>
              <a:t>Insight</a:t>
            </a:r>
            <a:r>
              <a:rPr lang="en-US" sz="1200" dirty="0">
                <a:latin typeface="Aptos" panose="020B0004020202020204" pitchFamily="34" charset="0"/>
              </a:rPr>
              <a:t>: Highlight key stages where visitors drop off and suggest improvements to optimize the conversion funnel.</a:t>
            </a:r>
          </a:p>
          <a:p>
            <a:pPr lvl="1">
              <a:lnSpc>
                <a:spcPct val="170000"/>
              </a:lnSpc>
            </a:pPr>
            <a:endParaRPr lang="en-US" sz="1200" dirty="0">
              <a:latin typeface="Aptos" panose="020B0004020202020204" pitchFamily="34" charset="0"/>
            </a:endParaRPr>
          </a:p>
          <a:p>
            <a:pPr>
              <a:lnSpc>
                <a:spcPct val="170000"/>
              </a:lnSpc>
            </a:pPr>
            <a:r>
              <a:rPr lang="en-US" sz="1400" b="1" dirty="0">
                <a:latin typeface="Aptos" panose="020B0004020202020204" pitchFamily="34" charset="0"/>
              </a:rPr>
              <a:t>Enhance Customer Engagement:</a:t>
            </a:r>
            <a:endParaRPr lang="en-US" sz="1400" dirty="0">
              <a:latin typeface="Aptos" panose="020B0004020202020204" pitchFamily="34" charset="0"/>
            </a:endParaRPr>
          </a:p>
          <a:p>
            <a:pPr lvl="1">
              <a:lnSpc>
                <a:spcPct val="170000"/>
              </a:lnSpc>
            </a:pPr>
            <a:r>
              <a:rPr lang="en-US" sz="1200" b="1" dirty="0">
                <a:latin typeface="Aptos" panose="020B0004020202020204" pitchFamily="34" charset="0"/>
              </a:rPr>
              <a:t>Goal</a:t>
            </a:r>
            <a:r>
              <a:rPr lang="en-US" sz="1200" dirty="0">
                <a:latin typeface="Aptos" panose="020B0004020202020204" pitchFamily="34" charset="0"/>
              </a:rPr>
              <a:t>: Determine which types of content drive the highest engagement. </a:t>
            </a:r>
          </a:p>
          <a:p>
            <a:pPr lvl="1">
              <a:lnSpc>
                <a:spcPct val="170000"/>
              </a:lnSpc>
            </a:pPr>
            <a:r>
              <a:rPr lang="en-US" sz="1200" b="1" dirty="0">
                <a:latin typeface="Aptos" panose="020B0004020202020204" pitchFamily="34" charset="0"/>
              </a:rPr>
              <a:t>Insight</a:t>
            </a:r>
            <a:r>
              <a:rPr lang="en-US" sz="1200" dirty="0">
                <a:latin typeface="Aptos" panose="020B0004020202020204" pitchFamily="34" charset="0"/>
              </a:rPr>
              <a:t>: Analyze interaction levels with different types of marketing content to inform better content strategies.</a:t>
            </a:r>
          </a:p>
          <a:p>
            <a:pPr lvl="1">
              <a:lnSpc>
                <a:spcPct val="170000"/>
              </a:lnSpc>
            </a:pPr>
            <a:endParaRPr lang="en-US" sz="1200" dirty="0">
              <a:latin typeface="Aptos" panose="020B0004020202020204" pitchFamily="34" charset="0"/>
            </a:endParaRPr>
          </a:p>
          <a:p>
            <a:pPr>
              <a:lnSpc>
                <a:spcPct val="170000"/>
              </a:lnSpc>
            </a:pPr>
            <a:r>
              <a:rPr lang="en-US" sz="1400" b="1" dirty="0">
                <a:latin typeface="Aptos" panose="020B0004020202020204" pitchFamily="34" charset="0"/>
              </a:rPr>
              <a:t>Improve Customer Feedback Scores:</a:t>
            </a:r>
            <a:endParaRPr lang="en-US" sz="1400" dirty="0">
              <a:latin typeface="Aptos" panose="020B0004020202020204" pitchFamily="34" charset="0"/>
            </a:endParaRPr>
          </a:p>
          <a:p>
            <a:pPr lvl="1">
              <a:lnSpc>
                <a:spcPct val="170000"/>
              </a:lnSpc>
            </a:pPr>
            <a:r>
              <a:rPr lang="en-US" sz="1200" b="1" dirty="0">
                <a:latin typeface="Aptos" panose="020B0004020202020204" pitchFamily="34" charset="0"/>
              </a:rPr>
              <a:t>Goal</a:t>
            </a:r>
            <a:r>
              <a:rPr lang="en-US" sz="1200" dirty="0">
                <a:latin typeface="Aptos" panose="020B0004020202020204" pitchFamily="34" charset="0"/>
              </a:rPr>
              <a:t>: Understand common themes in customer reviews and provide actionable insights.</a:t>
            </a:r>
          </a:p>
          <a:p>
            <a:pPr lvl="1">
              <a:lnSpc>
                <a:spcPct val="170000"/>
              </a:lnSpc>
            </a:pPr>
            <a:r>
              <a:rPr lang="en-US" sz="1200" b="1" dirty="0">
                <a:latin typeface="Aptos" panose="020B0004020202020204" pitchFamily="34" charset="0"/>
              </a:rPr>
              <a:t>Insight</a:t>
            </a:r>
            <a:r>
              <a:rPr lang="en-US" sz="1200" dirty="0">
                <a:latin typeface="Aptos" panose="020B0004020202020204" pitchFamily="34" charset="0"/>
              </a:rPr>
              <a:t>: Identify recurring positive and negative feedback to guide product and service improvements.</a:t>
            </a:r>
          </a:p>
        </p:txBody>
      </p:sp>
      <p:sp>
        <p:nvSpPr>
          <p:cNvPr id="6" name="TextBox 5">
            <a:extLst>
              <a:ext uri="{FF2B5EF4-FFF2-40B4-BE49-F238E27FC236}">
                <a16:creationId xmlns:a16="http://schemas.microsoft.com/office/drawing/2014/main" id="{FB3BF765-54CC-2306-1D2E-D75B8155310A}"/>
              </a:ext>
            </a:extLst>
          </p:cNvPr>
          <p:cNvSpPr txBox="1"/>
          <p:nvPr/>
        </p:nvSpPr>
        <p:spPr>
          <a:xfrm>
            <a:off x="129296" y="608623"/>
            <a:ext cx="6037106"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Goals</a:t>
            </a:r>
            <a:endParaRPr lang="en-US" sz="2400" dirty="0">
              <a:solidFill>
                <a:schemeClr val="tx1">
                  <a:lumMod val="95000"/>
                  <a:lumOff val="5000"/>
                </a:schemeClr>
              </a:solidFill>
              <a:latin typeface="Aptos" panose="020B0004020202020204" pitchFamily="34" charset="0"/>
            </a:endParaRPr>
          </a:p>
        </p:txBody>
      </p:sp>
      <p:sp>
        <p:nvSpPr>
          <p:cNvPr id="9" name="TextBox 8">
            <a:extLst>
              <a:ext uri="{FF2B5EF4-FFF2-40B4-BE49-F238E27FC236}">
                <a16:creationId xmlns:a16="http://schemas.microsoft.com/office/drawing/2014/main" id="{BF97EFD8-5BA7-96A4-3782-E5C0C982399E}"/>
              </a:ext>
            </a:extLst>
          </p:cNvPr>
          <p:cNvSpPr txBox="1"/>
          <p:nvPr/>
        </p:nvSpPr>
        <p:spPr>
          <a:xfrm>
            <a:off x="5896304" y="1168639"/>
            <a:ext cx="6341903" cy="5716437"/>
          </a:xfrm>
          <a:prstGeom prst="rect">
            <a:avLst/>
          </a:prstGeom>
          <a:noFill/>
        </p:spPr>
        <p:txBody>
          <a:bodyPr wrap="square" rtlCol="0">
            <a:spAutoFit/>
          </a:bodyPr>
          <a:lstStyle/>
          <a:p>
            <a:pPr>
              <a:lnSpc>
                <a:spcPct val="170000"/>
              </a:lnSpc>
            </a:pPr>
            <a:r>
              <a:rPr lang="en-US" sz="1400" b="1" dirty="0">
                <a:latin typeface="Aptos" panose="020B0004020202020204" pitchFamily="34" charset="0"/>
              </a:rPr>
              <a:t>Increase Conversion Rates:</a:t>
            </a:r>
          </a:p>
          <a:p>
            <a:pPr marL="628650" lvl="1" indent="-171450">
              <a:lnSpc>
                <a:spcPct val="170000"/>
              </a:lnSpc>
              <a:buFont typeface="Arial" panose="020B0604020202020204" pitchFamily="34" charset="0"/>
              <a:buChar char="•"/>
            </a:pPr>
            <a:r>
              <a:rPr lang="en-US" sz="1200" b="1" u="sng" dirty="0">
                <a:latin typeface="Aptos" panose="020B0004020202020204" pitchFamily="34" charset="0"/>
              </a:rPr>
              <a:t>Targeting high performance categories </a:t>
            </a:r>
            <a:r>
              <a:rPr lang="en-US" sz="1200" dirty="0">
                <a:latin typeface="Aptos" panose="020B0004020202020204" pitchFamily="34" charset="0"/>
              </a:rPr>
              <a:t>: Focus marketing efforts on products with demonstrated high conversion rate, such as</a:t>
            </a:r>
            <a:r>
              <a:rPr lang="en-US" sz="1200" dirty="0">
                <a:highlight>
                  <a:srgbClr val="00FF00"/>
                </a:highlight>
                <a:latin typeface="Aptos" panose="020B0004020202020204" pitchFamily="34" charset="0"/>
              </a:rPr>
              <a:t> kayaks, ski boots </a:t>
            </a:r>
            <a:r>
              <a:rPr lang="en-US" sz="1200" dirty="0">
                <a:latin typeface="Aptos" panose="020B0004020202020204" pitchFamily="34" charset="0"/>
              </a:rPr>
              <a:t>and </a:t>
            </a:r>
            <a:r>
              <a:rPr lang="en-US" sz="1200" dirty="0">
                <a:highlight>
                  <a:srgbClr val="00FF00"/>
                </a:highlight>
                <a:latin typeface="Aptos" panose="020B0004020202020204" pitchFamily="34" charset="0"/>
              </a:rPr>
              <a:t>basketball gloves </a:t>
            </a:r>
            <a:r>
              <a:rPr lang="en-US" sz="1200" dirty="0">
                <a:latin typeface="Aptos" panose="020B0004020202020204" pitchFamily="34" charset="0"/>
              </a:rPr>
              <a:t>. Implement seasonal promotion or personalized campaigns during peak months (e.g., January and September( to capitalize on these trends.</a:t>
            </a:r>
          </a:p>
          <a:p>
            <a:pPr>
              <a:lnSpc>
                <a:spcPct val="170000"/>
              </a:lnSpc>
            </a:pPr>
            <a:r>
              <a:rPr lang="en-US" sz="1400" b="1" dirty="0">
                <a:latin typeface="Aptos" panose="020B0004020202020204" pitchFamily="34" charset="0"/>
              </a:rPr>
              <a:t>Enhance Customer Engagement:</a:t>
            </a:r>
            <a:endParaRPr lang="en-US" sz="1400" dirty="0">
              <a:latin typeface="Aptos" panose="020B0004020202020204" pitchFamily="34" charset="0"/>
            </a:endParaRPr>
          </a:p>
          <a:p>
            <a:pPr lvl="1">
              <a:lnSpc>
                <a:spcPct val="170000"/>
              </a:lnSpc>
            </a:pPr>
            <a:r>
              <a:rPr lang="en-US" sz="1200" b="1" u="sng" dirty="0">
                <a:latin typeface="Aptos" panose="020B0004020202020204" pitchFamily="34" charset="0"/>
              </a:rPr>
              <a:t>Revitalize Content Strategy: </a:t>
            </a:r>
            <a:r>
              <a:rPr lang="en-US" sz="1200" dirty="0">
                <a:latin typeface="Aptos" panose="020B0004020202020204" pitchFamily="34" charset="0"/>
              </a:rPr>
              <a:t>To turn around declining views and low interaction rates, experiment with more engaging content formats, such as interactive videos or user-generated content. Additionally, boost engagement by optimizing call-to-action placement in social media and blog content, particularly during historically lower-engagement months (September-December).</a:t>
            </a:r>
          </a:p>
          <a:p>
            <a:pPr lvl="1">
              <a:lnSpc>
                <a:spcPct val="120000"/>
              </a:lnSpc>
            </a:pPr>
            <a:endParaRPr lang="nb-NO" sz="900" dirty="0"/>
          </a:p>
          <a:p>
            <a:pPr>
              <a:lnSpc>
                <a:spcPct val="170000"/>
              </a:lnSpc>
            </a:pPr>
            <a:r>
              <a:rPr lang="nb-NO" sz="1400" b="1" dirty="0">
                <a:latin typeface="Aptos" panose="020B0004020202020204" pitchFamily="34" charset="0"/>
              </a:rPr>
              <a:t>Improve Customer Feedback Scores:</a:t>
            </a:r>
          </a:p>
          <a:p>
            <a:pPr lvl="1">
              <a:lnSpc>
                <a:spcPct val="170000"/>
              </a:lnSpc>
            </a:pPr>
            <a:r>
              <a:rPr lang="en-US" sz="1200" b="1" u="sng" dirty="0">
                <a:latin typeface="Aptos" panose="020B0004020202020204" pitchFamily="34" charset="0"/>
              </a:rPr>
              <a:t>Address Mixed and Negative Feedback: </a:t>
            </a:r>
            <a:r>
              <a:rPr lang="en-US" sz="1200" dirty="0">
                <a:latin typeface="Aptos" panose="020B0004020202020204" pitchFamily="34" charset="0"/>
              </a:rPr>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1200" dirty="0">
              <a:latin typeface="Aptos" panose="020B0004020202020204" pitchFamily="34" charset="0"/>
            </a:endParaRPr>
          </a:p>
        </p:txBody>
      </p:sp>
      <p:cxnSp>
        <p:nvCxnSpPr>
          <p:cNvPr id="11" name="Straight Connector 10">
            <a:extLst>
              <a:ext uri="{FF2B5EF4-FFF2-40B4-BE49-F238E27FC236}">
                <a16:creationId xmlns:a16="http://schemas.microsoft.com/office/drawing/2014/main" id="{7730A4D4-85DA-8C85-1C58-146044935D50}"/>
              </a:ext>
            </a:extLst>
          </p:cNvPr>
          <p:cNvCxnSpPr>
            <a:cxnSpLocks/>
          </p:cNvCxnSpPr>
          <p:nvPr/>
        </p:nvCxnSpPr>
        <p:spPr>
          <a:xfrm>
            <a:off x="5896304" y="1168639"/>
            <a:ext cx="0" cy="59279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2E2EAC-3CA6-1771-8A28-7C1EA3B8AA8C}"/>
              </a:ext>
            </a:extLst>
          </p:cNvPr>
          <p:cNvSpPr txBox="1"/>
          <p:nvPr/>
        </p:nvSpPr>
        <p:spPr>
          <a:xfrm>
            <a:off x="6048702" y="720008"/>
            <a:ext cx="6037106" cy="523220"/>
          </a:xfrm>
          <a:prstGeom prst="rect">
            <a:avLst/>
          </a:prstGeom>
          <a:noFill/>
        </p:spPr>
        <p:txBody>
          <a:bodyPr wrap="square" rtlCol="0">
            <a:spAutoFit/>
          </a:bodyPr>
          <a:lstStyle/>
          <a:p>
            <a:r>
              <a:rPr lang="en-US" sz="2800" dirty="0">
                <a:solidFill>
                  <a:schemeClr val="tx1">
                    <a:lumMod val="95000"/>
                    <a:lumOff val="5000"/>
                  </a:schemeClr>
                </a:solidFill>
                <a:latin typeface="Aptos Black" panose="020F0502020204030204" pitchFamily="34" charset="0"/>
              </a:rPr>
              <a:t>Actions</a:t>
            </a:r>
            <a:endParaRPr lang="en-US" sz="2400" dirty="0">
              <a:solidFill>
                <a:schemeClr val="tx1">
                  <a:lumMod val="95000"/>
                  <a:lumOff val="5000"/>
                </a:schemeClr>
              </a:solidFill>
              <a:latin typeface="Aptos" panose="020B0004020202020204" pitchFamily="34" charset="0"/>
            </a:endParaRPr>
          </a:p>
        </p:txBody>
      </p:sp>
    </p:spTree>
    <p:extLst>
      <p:ext uri="{BB962C8B-B14F-4D97-AF65-F5344CB8AC3E}">
        <p14:creationId xmlns:p14="http://schemas.microsoft.com/office/powerpoint/2010/main" val="576793360"/>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themeOverride>
</file>

<file path=docProps/app.xml><?xml version="1.0" encoding="utf-8"?>
<Properties xmlns="http://schemas.openxmlformats.org/officeDocument/2006/extended-properties" xmlns:vt="http://schemas.openxmlformats.org/officeDocument/2006/docPropsVTypes">
  <Template/>
  <TotalTime>1262</TotalTime>
  <Words>793</Words>
  <Application>Microsoft Office PowerPoint</Application>
  <PresentationFormat>Widescreen</PresentationFormat>
  <Paragraphs>66</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Black</vt:lpstr>
      <vt:lpstr>Arial</vt:lpstr>
      <vt:lpstr>Grandview Display</vt:lpstr>
      <vt:lpstr>DashVTI</vt:lpstr>
      <vt:lpstr>  Marketing Analytics Business Case By : Ahmed Salama</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8241682 - Ahmed Salama Abdelhameed Yousef Elhanafy</dc:creator>
  <cp:lastModifiedBy>8241682 - Ahmed Salama Abdelhameed Yousef Elhanafy</cp:lastModifiedBy>
  <cp:revision>3</cp:revision>
  <dcterms:created xsi:type="dcterms:W3CDTF">2026-05-15T06:49:43Z</dcterms:created>
  <dcterms:modified xsi:type="dcterms:W3CDTF">2026-05-16T05:29:15Z</dcterms:modified>
</cp:coreProperties>
</file>